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Geist" panose="020B0604020202020204" charset="0"/>
      <p:regular r:id="rId13"/>
    </p:embeddedFont>
    <p:embeddedFont>
      <p:font typeface="Geist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DFD"/>
    <a:srgbClr val="1A297C"/>
    <a:srgbClr val="FFFFFF"/>
    <a:srgbClr val="10151F"/>
    <a:srgbClr val="1117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488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11" Type="http://schemas.openxmlformats.org/officeDocument/2006/relationships/image" Target="../media/image19.jpeg"/><Relationship Id="rId5" Type="http://schemas.openxmlformats.org/officeDocument/2006/relationships/image" Target="../media/image13.png"/><Relationship Id="rId10" Type="http://schemas.openxmlformats.org/officeDocument/2006/relationships/image" Target="../media/image18.jpeg"/><Relationship Id="rId4" Type="http://schemas.openxmlformats.org/officeDocument/2006/relationships/image" Target="../media/image12.jpeg"/><Relationship Id="rId9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45392" y="683886"/>
            <a:ext cx="4722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MQTT Protocol in IoT</a:t>
            </a:r>
            <a:endParaRPr lang="en-US" sz="275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4C9632-FAB8-60B4-941E-08ED3C702EE0}"/>
              </a:ext>
            </a:extLst>
          </p:cNvPr>
          <p:cNvSpPr/>
          <p:nvPr/>
        </p:nvSpPr>
        <p:spPr>
          <a:xfrm>
            <a:off x="8067822" y="4726745"/>
            <a:ext cx="1076178" cy="416755"/>
          </a:xfrm>
          <a:prstGeom prst="roundRect">
            <a:avLst/>
          </a:prstGeom>
          <a:solidFill>
            <a:srgbClr val="111722"/>
          </a:solidFill>
          <a:ln>
            <a:solidFill>
              <a:srgbClr val="1015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90F60D-FAF3-1CCC-FB55-C0633B184F61}"/>
              </a:ext>
            </a:extLst>
          </p:cNvPr>
          <p:cNvSpPr/>
          <p:nvPr/>
        </p:nvSpPr>
        <p:spPr>
          <a:xfrm>
            <a:off x="175845" y="281354"/>
            <a:ext cx="308082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CFD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18E36-C3B4-576C-7225-81546F4B9983}"/>
              </a:ext>
            </a:extLst>
          </p:cNvPr>
          <p:cNvSpPr txBox="1"/>
          <p:nvPr/>
        </p:nvSpPr>
        <p:spPr>
          <a:xfrm>
            <a:off x="4030395" y="1640451"/>
            <a:ext cx="4575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>
                <a:solidFill>
                  <a:schemeClr val="bg1"/>
                </a:solidFill>
              </a:rPr>
              <a:t>IoT-Based Smart Medicine Reminder and Pill Monitoring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C735B-1D23-F37B-BB62-01B7CA78ABC6}"/>
              </a:ext>
            </a:extLst>
          </p:cNvPr>
          <p:cNvSpPr txBox="1"/>
          <p:nvPr/>
        </p:nvSpPr>
        <p:spPr>
          <a:xfrm>
            <a:off x="6544525" y="3137431"/>
            <a:ext cx="22885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MEMBERS :</a:t>
            </a:r>
          </a:p>
          <a:p>
            <a:r>
              <a:rPr lang="en-IN" dirty="0" err="1">
                <a:solidFill>
                  <a:schemeClr val="bg1"/>
                </a:solidFill>
              </a:rPr>
              <a:t>Rubadharshini</a:t>
            </a:r>
            <a:r>
              <a:rPr lang="en-IN" dirty="0">
                <a:solidFill>
                  <a:schemeClr val="bg1"/>
                </a:solidFill>
              </a:rPr>
              <a:t> S</a:t>
            </a:r>
          </a:p>
          <a:p>
            <a:r>
              <a:rPr lang="en-IN" dirty="0" err="1">
                <a:solidFill>
                  <a:schemeClr val="bg1"/>
                </a:solidFill>
              </a:rPr>
              <a:t>Puthiyaraj</a:t>
            </a:r>
            <a:r>
              <a:rPr lang="en-IN" dirty="0">
                <a:solidFill>
                  <a:schemeClr val="bg1"/>
                </a:solidFill>
              </a:rPr>
              <a:t> P</a:t>
            </a:r>
          </a:p>
          <a:p>
            <a:r>
              <a:rPr lang="en-IN" dirty="0">
                <a:solidFill>
                  <a:schemeClr val="bg1"/>
                </a:solidFill>
              </a:rPr>
              <a:t>Sangili Murugan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5695" y="1066186"/>
            <a:ext cx="8151763" cy="368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Introduction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256458"/>
            <a:ext cx="571798" cy="3533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5096" y="2256458"/>
            <a:ext cx="1850157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is IoT?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45096" y="2571824"/>
            <a:ext cx="185015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Network of sensors and devices exchanging data to enable remote monitoring and automation.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2256458"/>
            <a:ext cx="571798" cy="3533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1410" y="2256458"/>
            <a:ext cx="1850157" cy="46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Importance in Healthcare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21410" y="2802136"/>
            <a:ext cx="185015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Enables continuous monitoring, timely interventions, and better patient outcomes.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2256458"/>
            <a:ext cx="571798" cy="3533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7725" y="2256458"/>
            <a:ext cx="1850157" cy="46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Need for Smart Reminders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97725" y="2802136"/>
            <a:ext cx="185015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Reduce missed doses, support caregivers remotely, and maintain medication adherence records.</a:t>
            </a:r>
            <a:endParaRPr lang="en-US" sz="11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CCD2516-0EE0-B1A7-C02F-E5416ED80D25}"/>
              </a:ext>
            </a:extLst>
          </p:cNvPr>
          <p:cNvSpPr/>
          <p:nvPr/>
        </p:nvSpPr>
        <p:spPr>
          <a:xfrm>
            <a:off x="8067822" y="4726745"/>
            <a:ext cx="1076178" cy="416755"/>
          </a:xfrm>
          <a:prstGeom prst="roundRect">
            <a:avLst/>
          </a:prstGeom>
          <a:solidFill>
            <a:srgbClr val="111722"/>
          </a:solidFill>
          <a:ln>
            <a:solidFill>
              <a:srgbClr val="1015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MQTT Protocol — At a Glance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96119" y="644947"/>
            <a:ext cx="2693640" cy="425872"/>
          </a:xfrm>
          <a:prstGeom prst="roundRect">
            <a:avLst>
              <a:gd name="adj" fmla="val 6991"/>
            </a:avLst>
          </a:prstGeom>
          <a:solidFill>
            <a:srgbClr val="101620"/>
          </a:solidFill>
          <a:ln w="4763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723" y="720551"/>
            <a:ext cx="2542431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Full Form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71723" y="856952"/>
            <a:ext cx="2542431" cy="6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Message Queuing Telemetry Transport</a:t>
            </a:r>
            <a:endParaRPr lang="en-US" sz="550" dirty="0"/>
          </a:p>
        </p:txBody>
      </p:sp>
      <p:sp>
        <p:nvSpPr>
          <p:cNvPr id="6" name="Shape 4"/>
          <p:cNvSpPr/>
          <p:nvPr/>
        </p:nvSpPr>
        <p:spPr>
          <a:xfrm>
            <a:off x="3225180" y="644946"/>
            <a:ext cx="2693640" cy="465559"/>
          </a:xfrm>
          <a:prstGeom prst="roundRect">
            <a:avLst>
              <a:gd name="adj" fmla="val 6991"/>
            </a:avLst>
          </a:prstGeom>
          <a:solidFill>
            <a:srgbClr val="101620"/>
          </a:solidFill>
          <a:ln w="4763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00785" y="720551"/>
            <a:ext cx="2542431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is MQTT?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3300785" y="856952"/>
            <a:ext cx="2542431" cy="138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Lightweight publish–subscribe protocol optimized for constrained devices and unreliable networks.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5954241" y="644947"/>
            <a:ext cx="2693640" cy="425872"/>
          </a:xfrm>
          <a:prstGeom prst="roundRect">
            <a:avLst>
              <a:gd name="adj" fmla="val 6991"/>
            </a:avLst>
          </a:prstGeom>
          <a:solidFill>
            <a:srgbClr val="101620"/>
          </a:solidFill>
          <a:ln w="4763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29846" y="720551"/>
            <a:ext cx="2542431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Publish–Subscribe Model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029846" y="856952"/>
            <a:ext cx="2542431" cy="138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Publishers send messages to topics; subscribers receive messages they subscribe to — decoupled communication.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496119" y="1155984"/>
            <a:ext cx="4058171" cy="356741"/>
          </a:xfrm>
          <a:prstGeom prst="roundRect">
            <a:avLst>
              <a:gd name="adj" fmla="val 8345"/>
            </a:avLst>
          </a:prstGeom>
          <a:solidFill>
            <a:srgbClr val="101620"/>
          </a:solidFill>
          <a:ln w="4763">
            <a:solidFill>
              <a:srgbClr val="002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723" y="1181844"/>
            <a:ext cx="3906962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MQTT Broker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71723" y="1318245"/>
            <a:ext cx="3906962" cy="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Central message router (e.g., Mosquitto, Cloud MQTT) handling session state, QoS, and topic routing.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589711" y="1155367"/>
            <a:ext cx="4058171" cy="356741"/>
          </a:xfrm>
          <a:prstGeom prst="roundRect">
            <a:avLst>
              <a:gd name="adj" fmla="val 8345"/>
            </a:avLst>
          </a:prstGeom>
          <a:solidFill>
            <a:srgbClr val="101620"/>
          </a:solidFill>
          <a:ln w="4763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5315" y="1181844"/>
            <a:ext cx="3906962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Advantages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665315" y="1318245"/>
            <a:ext cx="3906962" cy="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Low bandwidth, small packet overhead, low power consumption, QoS levels for reliability.</a:t>
            </a:r>
            <a:endParaRPr lang="en-US" sz="5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609" y="2077448"/>
            <a:ext cx="5233183" cy="310665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076701" y="3169920"/>
            <a:ext cx="1143000" cy="881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MQTT Simple Architecture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593180" y="4286548"/>
            <a:ext cx="1491636" cy="47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MQTT Broker (cloud)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246271" y="4196813"/>
            <a:ext cx="1491635" cy="47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Mobile App (subscriber)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246272" y="2333312"/>
            <a:ext cx="1491635" cy="47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Caregiver Dashboard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556126" y="2364094"/>
            <a:ext cx="1491636" cy="47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ESP32 (publisher)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267519" y="5267771"/>
            <a:ext cx="8608963" cy="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Diagram: ESP32 devices publish status to broker; apps and caregiver dashboards subscribe to relevant topics for real-time updates.</a:t>
            </a:r>
            <a:endParaRPr lang="en-US" sz="55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34AF2F3-AFEA-1452-94D6-BC026A6466FA}"/>
              </a:ext>
            </a:extLst>
          </p:cNvPr>
          <p:cNvSpPr/>
          <p:nvPr/>
        </p:nvSpPr>
        <p:spPr>
          <a:xfrm>
            <a:off x="8067822" y="4726745"/>
            <a:ext cx="1076178" cy="416755"/>
          </a:xfrm>
          <a:prstGeom prst="roundRect">
            <a:avLst/>
          </a:prstGeom>
          <a:solidFill>
            <a:srgbClr val="111722"/>
          </a:solidFill>
          <a:ln>
            <a:solidFill>
              <a:srgbClr val="1015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03846"/>
            <a:ext cx="4722763" cy="737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Problem Statement &amp; Project Objectives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2095351"/>
            <a:ext cx="2188443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25119" y="2467421"/>
            <a:ext cx="2188443" cy="1204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Patients often forget scheduled medicines.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Caregivers lack remote visibility into adherence.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Missed doses can worsen health outcomes.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64201" y="2095351"/>
            <a:ext cx="2188443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64201" y="2467421"/>
            <a:ext cx="2188443" cy="1622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 timely, reliable medicine reminders.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Monitor and record pill intake events.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Send real-time notifications to family/caregivers.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Persist medication logs in cloud for audits and analysis.</a:t>
            </a:r>
            <a:endParaRPr lang="en-US" sz="11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24730D-EAAD-1294-7FF9-8BC93239B802}"/>
              </a:ext>
            </a:extLst>
          </p:cNvPr>
          <p:cNvSpPr/>
          <p:nvPr/>
        </p:nvSpPr>
        <p:spPr>
          <a:xfrm>
            <a:off x="8067822" y="4726745"/>
            <a:ext cx="1076178" cy="416755"/>
          </a:xfrm>
          <a:prstGeom prst="roundRect">
            <a:avLst/>
          </a:prstGeom>
          <a:solidFill>
            <a:srgbClr val="111722"/>
          </a:solidFill>
          <a:ln>
            <a:solidFill>
              <a:srgbClr val="1015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40A592-0562-95A7-C172-6AD5701D9633}"/>
              </a:ext>
            </a:extLst>
          </p:cNvPr>
          <p:cNvSpPr/>
          <p:nvPr/>
        </p:nvSpPr>
        <p:spPr>
          <a:xfrm>
            <a:off x="8067822" y="4726745"/>
            <a:ext cx="1076178" cy="416755"/>
          </a:xfrm>
          <a:prstGeom prst="roundRect">
            <a:avLst/>
          </a:prstGeom>
          <a:solidFill>
            <a:srgbClr val="111722"/>
          </a:solidFill>
          <a:ln>
            <a:solidFill>
              <a:srgbClr val="1015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CB082-4D96-8B13-B8B3-48B4AD93E534}"/>
              </a:ext>
            </a:extLst>
          </p:cNvPr>
          <p:cNvSpPr txBox="1"/>
          <p:nvPr/>
        </p:nvSpPr>
        <p:spPr>
          <a:xfrm>
            <a:off x="232117" y="4288791"/>
            <a:ext cx="8750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dirty="0">
                <a:solidFill>
                  <a:schemeClr val="bg1">
                    <a:lumMod val="95000"/>
                  </a:schemeClr>
                </a:solidFill>
              </a:rPr>
              <a:t>Notes on data flow: • RTC triggers reminder at scheduled time. • ESP32 activates buzzer and display. • Patient presses push button to confirm. • ESP32 publishes medicine status via MQTT. • Broker forwards message to subscribed mobile app. • Caregiver receives alert for missed doses.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5B17D6-1DE5-8D02-E3A3-D62C6F048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57" y="293853"/>
            <a:ext cx="7983415" cy="38978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073"/>
            <a:ext cx="8151763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Working Principle — Step by Step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73714" y="2897183"/>
            <a:ext cx="1834102" cy="23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89308" y="2559208"/>
            <a:ext cx="1834102" cy="23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15C44DE-3600-DA7D-00E7-4FD47A58CB20}"/>
              </a:ext>
            </a:extLst>
          </p:cNvPr>
          <p:cNvSpPr/>
          <p:nvPr/>
        </p:nvSpPr>
        <p:spPr>
          <a:xfrm>
            <a:off x="8067822" y="4726745"/>
            <a:ext cx="1076178" cy="416755"/>
          </a:xfrm>
          <a:prstGeom prst="roundRect">
            <a:avLst/>
          </a:prstGeom>
          <a:solidFill>
            <a:srgbClr val="111722"/>
          </a:solidFill>
          <a:ln>
            <a:solidFill>
              <a:srgbClr val="1015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57DB33-8656-ACF1-FE6E-51E5E9FAD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48" y="815517"/>
            <a:ext cx="7414903" cy="24130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89B635-E483-793B-C09E-7FEFA045FDE8}"/>
              </a:ext>
            </a:extLst>
          </p:cNvPr>
          <p:cNvSpPr txBox="1"/>
          <p:nvPr/>
        </p:nvSpPr>
        <p:spPr>
          <a:xfrm>
            <a:off x="597876" y="3525090"/>
            <a:ext cx="794824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Step-by-step summary: </a:t>
            </a: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1. Medicine schedule configured on mobile/cloud.   2. RTC triggers ESP32 at scheduled time.   3. Buzzer and display alert the patient.   4. Patient confirms intake via push button.   5. ESP32 publishes a JSON status message to MQTT topic (e.g., home/</a:t>
            </a:r>
            <a:r>
              <a:rPr lang="en-IN" sz="1600" dirty="0" err="1">
                <a:solidFill>
                  <a:schemeClr val="bg1">
                    <a:lumMod val="95000"/>
                  </a:schemeClr>
                </a:solidFill>
              </a:rPr>
              <a:t>patientX</a:t>
            </a: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/medicine).    6. Mobile app and caregiver dashboards receive the update.    7. If no confirmation within timeout, system issues caregiver alert and logs a missed dose.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100"/>
            <a:ext cx="8151763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Components Used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85912"/>
            <a:ext cx="559296" cy="69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0894" y="985912"/>
            <a:ext cx="1224037" cy="208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ESP32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00894" y="1264444"/>
            <a:ext cx="1224037" cy="95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Wi‑Fi enabled microcontroller — handles scheduling, sensor input, and MQTT communication.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0411" y="985912"/>
            <a:ext cx="559296" cy="699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5186" y="985912"/>
            <a:ext cx="1224037" cy="208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RTC Module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275186" y="1264444"/>
            <a:ext cx="1224037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Maintains accurate time for schedule triggers even after power cycles.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703" y="985912"/>
            <a:ext cx="559296" cy="6991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49478" y="985912"/>
            <a:ext cx="1224037" cy="208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Buzzer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349478" y="1264444"/>
            <a:ext cx="1224037" cy="477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Local audible reminder for the patient.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995" y="985912"/>
            <a:ext cx="559371" cy="69919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23845" y="985912"/>
            <a:ext cx="1224037" cy="208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Push Button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7423845" y="1264444"/>
            <a:ext cx="1224037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Patient confirms medication intake; input read by ESP32.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2452315"/>
            <a:ext cx="559296" cy="6991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0894" y="2452315"/>
            <a:ext cx="1224037" cy="417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OLED / LCD Display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1200894" y="2939579"/>
            <a:ext cx="1224037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Shows schedule, reminders, and confirmation prompts.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0411" y="2452315"/>
            <a:ext cx="559296" cy="6991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275186" y="2452315"/>
            <a:ext cx="1224037" cy="208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Wi‑Fi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3275186" y="2730847"/>
            <a:ext cx="1224037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Network link between ESP32 and MQTT broker (local or cloud).</a:t>
            </a:r>
            <a:endParaRPr lang="en-US" sz="10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4703" y="2452315"/>
            <a:ext cx="559296" cy="6991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49478" y="2452315"/>
            <a:ext cx="1224037" cy="208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MQTT Broker</a:t>
            </a:r>
            <a:endParaRPr lang="en-US" sz="1250" dirty="0"/>
          </a:p>
        </p:txBody>
      </p:sp>
      <p:sp>
        <p:nvSpPr>
          <p:cNvPr id="23" name="Text 14"/>
          <p:cNvSpPr/>
          <p:nvPr/>
        </p:nvSpPr>
        <p:spPr>
          <a:xfrm>
            <a:off x="5349478" y="2730847"/>
            <a:ext cx="1224037" cy="477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Message hub managing topics, sessions, and QoS.</a:t>
            </a:r>
            <a:endParaRPr lang="en-US" sz="10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8995" y="2452315"/>
            <a:ext cx="559371" cy="699195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423845" y="2452315"/>
            <a:ext cx="1224037" cy="208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Mobile App</a:t>
            </a:r>
            <a:endParaRPr lang="en-US" sz="1250" dirty="0"/>
          </a:p>
        </p:txBody>
      </p:sp>
      <p:sp>
        <p:nvSpPr>
          <p:cNvPr id="26" name="Text 16"/>
          <p:cNvSpPr/>
          <p:nvPr/>
        </p:nvSpPr>
        <p:spPr>
          <a:xfrm>
            <a:off x="7423845" y="2730847"/>
            <a:ext cx="1224037" cy="477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Receives updates, displays logs, and alerts caregivers.</a:t>
            </a:r>
            <a:endParaRPr lang="en-US" sz="10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119" y="3809107"/>
            <a:ext cx="559296" cy="69912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200894" y="3809107"/>
            <a:ext cx="1224037" cy="208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Power Supply</a:t>
            </a:r>
            <a:endParaRPr lang="en-US" sz="1250" dirty="0"/>
          </a:p>
        </p:txBody>
      </p:sp>
      <p:sp>
        <p:nvSpPr>
          <p:cNvPr id="29" name="Text 18"/>
          <p:cNvSpPr/>
          <p:nvPr/>
        </p:nvSpPr>
        <p:spPr>
          <a:xfrm>
            <a:off x="1200894" y="4087639"/>
            <a:ext cx="1224037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Reliable power with battery backup to ensure reminders remain active.</a:t>
            </a:r>
            <a:endParaRPr lang="en-US" sz="1000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E3AB467-7A47-7766-89DC-75D3598D3CFD}"/>
              </a:ext>
            </a:extLst>
          </p:cNvPr>
          <p:cNvSpPr/>
          <p:nvPr/>
        </p:nvSpPr>
        <p:spPr>
          <a:xfrm>
            <a:off x="8067822" y="4726745"/>
            <a:ext cx="1076178" cy="416755"/>
          </a:xfrm>
          <a:prstGeom prst="roundRect">
            <a:avLst/>
          </a:prstGeom>
          <a:solidFill>
            <a:srgbClr val="111722"/>
          </a:solidFill>
          <a:ln>
            <a:solidFill>
              <a:srgbClr val="1015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541"/>
            <a:ext cx="8151763" cy="293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Advantages &amp; Applications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496119" y="956370"/>
            <a:ext cx="3516660" cy="659904"/>
          </a:xfrm>
          <a:prstGeom prst="roundRect">
            <a:avLst>
              <a:gd name="adj" fmla="val 7190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3367" y="1083618"/>
            <a:ext cx="3262164" cy="183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Low Cost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3367" y="1357164"/>
            <a:ext cx="3262164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Affordable hardware and open protocols.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96119" y="1706240"/>
            <a:ext cx="3516660" cy="659904"/>
          </a:xfrm>
          <a:prstGeom prst="roundRect">
            <a:avLst>
              <a:gd name="adj" fmla="val 7190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3367" y="1833488"/>
            <a:ext cx="3262164" cy="183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Real-Time Monitoring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3367" y="2107034"/>
            <a:ext cx="3262164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Immediate visibility into adherence events.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6119" y="2456111"/>
            <a:ext cx="3516660" cy="659904"/>
          </a:xfrm>
          <a:prstGeom prst="roundRect">
            <a:avLst>
              <a:gd name="adj" fmla="val 7190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367" y="2583359"/>
            <a:ext cx="3262164" cy="183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Reliable Communication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3367" y="2856905"/>
            <a:ext cx="3262164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MQTT with QoS ensures message delivery.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6119" y="3205981"/>
            <a:ext cx="3516660" cy="659904"/>
          </a:xfrm>
          <a:prstGeom prst="roundRect">
            <a:avLst>
              <a:gd name="adj" fmla="val 7190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367" y="3333229"/>
            <a:ext cx="3262164" cy="183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Easy to Use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3367" y="3606775"/>
            <a:ext cx="3262164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Simple UI and single‑button confirmation for patients.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6119" y="3955852"/>
            <a:ext cx="3516660" cy="659904"/>
          </a:xfrm>
          <a:prstGeom prst="roundRect">
            <a:avLst>
              <a:gd name="adj" fmla="val 7190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367" y="4083100"/>
            <a:ext cx="3262164" cy="183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Remote Notifications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367" y="4356646"/>
            <a:ext cx="3262164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Caregivers receive alerts for missed doses.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93171" y="965299"/>
            <a:ext cx="4359399" cy="183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3171" y="1238845"/>
            <a:ext cx="4359399" cy="78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97000"/>
              </a:lnSpc>
              <a:buSzPct val="100000"/>
              <a:buChar char="•"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Hospitals — inpatient medication adherence support</a:t>
            </a:r>
            <a:endParaRPr lang="en-US" sz="850" dirty="0"/>
          </a:p>
          <a:p>
            <a:pPr marL="172720" indent="-172720" algn="l">
              <a:lnSpc>
                <a:spcPct val="97000"/>
              </a:lnSpc>
              <a:buSzPct val="100000"/>
              <a:buChar char="•"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 Healthcare — assist patients living independently</a:t>
            </a:r>
            <a:endParaRPr lang="en-US" sz="850" dirty="0"/>
          </a:p>
          <a:p>
            <a:pPr marL="172720" indent="-172720" algn="l">
              <a:lnSpc>
                <a:spcPct val="97000"/>
              </a:lnSpc>
              <a:buSzPct val="100000"/>
              <a:buChar char="•"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Elderly Care — reduce caregiver burden and risk</a:t>
            </a:r>
            <a:endParaRPr lang="en-US" sz="850" dirty="0"/>
          </a:p>
          <a:p>
            <a:pPr marL="172720" indent="-172720" algn="l">
              <a:lnSpc>
                <a:spcPct val="97000"/>
              </a:lnSpc>
              <a:buSzPct val="100000"/>
              <a:buChar char="•"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Clinics — outpatient medication monitoring</a:t>
            </a:r>
            <a:endParaRPr lang="en-US" sz="850" dirty="0"/>
          </a:p>
          <a:p>
            <a:pPr marL="172720" indent="-172720" algn="l">
              <a:lnSpc>
                <a:spcPct val="97000"/>
              </a:lnSpc>
              <a:buSzPct val="100000"/>
              <a:buChar char="•"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Longitudinal Patient Monitoring — build adherence datasets</a:t>
            </a:r>
            <a:endParaRPr lang="en-US" sz="8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171" y="2125266"/>
            <a:ext cx="4359399" cy="247032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7B91DD6-2C1E-247C-3A93-F37FC3797C2B}"/>
              </a:ext>
            </a:extLst>
          </p:cNvPr>
          <p:cNvSpPr/>
          <p:nvPr/>
        </p:nvSpPr>
        <p:spPr>
          <a:xfrm>
            <a:off x="8067822" y="4726745"/>
            <a:ext cx="1076178" cy="416755"/>
          </a:xfrm>
          <a:prstGeom prst="roundRect">
            <a:avLst/>
          </a:prstGeom>
          <a:solidFill>
            <a:srgbClr val="111722"/>
          </a:solidFill>
          <a:ln>
            <a:solidFill>
              <a:srgbClr val="1015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4255"/>
            <a:ext cx="8151763" cy="368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Future Enhancements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56345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87885"/>
            <a:ext cx="2599134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AI-Based Scheduling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203252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Adaptive reminders that learn patient behavior and optimize times to maximize adherence.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356345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887885"/>
            <a:ext cx="2599134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Voice Assistant Integration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203252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Hands-free confirmations and medication instructions via smart speakers or phone assistants.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356345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887885"/>
            <a:ext cx="2599134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Smartwatch Notifications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203252"/>
            <a:ext cx="2599134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Haptic reminders and one-touch confirmations from wearables.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39517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571056"/>
            <a:ext cx="2599134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Cloud Analytics Dashboard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886423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Aggregate adherence trends, generate reports for clinicians, and support research.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039517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571056"/>
            <a:ext cx="2599134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Camera-Based Pill Detection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886423"/>
            <a:ext cx="2599134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Computer vision to verify pill presence and ingestion when required.</a:t>
            </a:r>
            <a:endParaRPr lang="en-US" sz="11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7E324A9-FB58-5341-16BE-486183EDADD2}"/>
              </a:ext>
            </a:extLst>
          </p:cNvPr>
          <p:cNvSpPr/>
          <p:nvPr/>
        </p:nvSpPr>
        <p:spPr>
          <a:xfrm>
            <a:off x="8067822" y="4726745"/>
            <a:ext cx="1076178" cy="416755"/>
          </a:xfrm>
          <a:prstGeom prst="roundRect">
            <a:avLst/>
          </a:prstGeom>
          <a:solidFill>
            <a:srgbClr val="111722"/>
          </a:solidFill>
          <a:ln>
            <a:solidFill>
              <a:srgbClr val="1015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10457"/>
            <a:ext cx="4722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 &amp; Thank You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183755"/>
            <a:ext cx="4722763" cy="144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MQTT provides a lightweight, reliable backbone for IoT healthcare systems. Combined with ESP32-based devices and cloud brokers, the proposed Smart Medicine Reminder system improves medication adherence, enables remote caregiver oversight, and generates adherence records for clinical use.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DC70B0-C94A-6EB6-AF8A-854F3B33B597}"/>
              </a:ext>
            </a:extLst>
          </p:cNvPr>
          <p:cNvSpPr/>
          <p:nvPr/>
        </p:nvSpPr>
        <p:spPr>
          <a:xfrm>
            <a:off x="6583681" y="4332849"/>
            <a:ext cx="2560320" cy="810651"/>
          </a:xfrm>
          <a:prstGeom prst="roundRect">
            <a:avLst/>
          </a:prstGeom>
          <a:solidFill>
            <a:srgbClr val="1A297C"/>
          </a:solidFill>
          <a:ln>
            <a:solidFill>
              <a:srgbClr val="1A29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745</Words>
  <Application>Microsoft Office PowerPoint</Application>
  <PresentationFormat>On-screen Show (16:9)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Geist Bold</vt:lpstr>
      <vt:lpstr>Wingdings</vt:lpstr>
      <vt:lpstr>Geist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rubadharshu123@gmail.com</cp:lastModifiedBy>
  <cp:revision>6</cp:revision>
  <dcterms:created xsi:type="dcterms:W3CDTF">2026-07-15T05:48:36Z</dcterms:created>
  <dcterms:modified xsi:type="dcterms:W3CDTF">2026-08-03T13:53:39Z</dcterms:modified>
</cp:coreProperties>
</file>